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7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en/view-image.php?image=80234&amp;picture=thank-you-text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F2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united-universit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7187" y="320040"/>
            <a:ext cx="1417320" cy="1417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1828800"/>
            <a:ext cx="11183112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0F2F57"/>
                </a:solidFill>
                <a:latin typeface="Aptos Display"/>
              </a:rPr>
              <a:t>PREDICTIVE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6218" y="2651760"/>
            <a:ext cx="857651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dirty="0">
                <a:latin typeface="Aptos"/>
              </a:rPr>
              <a:t>Practical: Filter Node – Keeping, Removing and Renaming Fields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3364992"/>
            <a:ext cx="2862072" cy="32004"/>
          </a:xfrm>
          <a:prstGeom prst="rect">
            <a:avLst/>
          </a:prstGeom>
          <a:solidFill>
            <a:srgbClr val="D22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96220" y="3611880"/>
            <a:ext cx="2174120" cy="16722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dirty="0">
                <a:solidFill>
                  <a:srgbClr val="0F2F57"/>
                </a:solidFill>
              </a:rPr>
              <a:t>PRESENTED BY</a:t>
            </a:r>
          </a:p>
          <a:p>
            <a:pPr algn="ctr">
              <a:spcAft>
                <a:spcPts val="400"/>
              </a:spcAft>
            </a:pPr>
            <a:r>
              <a:rPr sz="2400" dirty="0">
                <a:solidFill>
                  <a:srgbClr val="2D343C"/>
                </a:solidFill>
              </a:rPr>
              <a:t>Priyanshi</a:t>
            </a:r>
          </a:p>
          <a:p>
            <a:pPr algn="ctr">
              <a:spcAft>
                <a:spcPts val="400"/>
              </a:spcAft>
            </a:pPr>
            <a:r>
              <a:rPr sz="2400" dirty="0">
                <a:solidFill>
                  <a:srgbClr val="2D343C"/>
                </a:solidFill>
              </a:rPr>
              <a:t>Akhilesh Mishra</a:t>
            </a:r>
          </a:p>
          <a:p>
            <a:pPr algn="ctr">
              <a:spcAft>
                <a:spcPts val="400"/>
              </a:spcAft>
            </a:pPr>
            <a:r>
              <a:rPr lang="en-US" sz="2400" dirty="0" smtClean="0">
                <a:solidFill>
                  <a:srgbClr val="2D343C"/>
                </a:solidFill>
              </a:rPr>
              <a:t>Kumar </a:t>
            </a:r>
            <a:r>
              <a:rPr lang="en-US" sz="2400" smtClean="0">
                <a:solidFill>
                  <a:srgbClr val="2D343C"/>
                </a:solidFill>
              </a:rPr>
              <a:t>Vaibhav</a:t>
            </a:r>
            <a:endParaRPr sz="2400" dirty="0">
              <a:solidFill>
                <a:srgbClr val="2D343C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46686" y="3840480"/>
            <a:ext cx="2508828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dirty="0">
                <a:solidFill>
                  <a:srgbClr val="0F2F57"/>
                </a:solidFill>
              </a:rPr>
              <a:t>PRESENTED TO</a:t>
            </a:r>
          </a:p>
          <a:p>
            <a:pPr algn="ctr"/>
            <a:r>
              <a:rPr sz="2400" dirty="0">
                <a:solidFill>
                  <a:srgbClr val="2D343C"/>
                </a:solidFill>
              </a:rPr>
              <a:t>Mr. Ferhan Ahmed</a:t>
            </a:r>
          </a:p>
          <a:p>
            <a:pPr algn="ctr"/>
            <a:r>
              <a:rPr sz="2400" dirty="0">
                <a:solidFill>
                  <a:srgbClr val="2D343C"/>
                </a:solidFill>
              </a:rPr>
              <a:t>IBM Trainer</a:t>
            </a:r>
          </a:p>
          <a:p>
            <a:pPr algn="ctr"/>
            <a:r>
              <a:rPr sz="2400" dirty="0">
                <a:solidFill>
                  <a:srgbClr val="2D343C"/>
                </a:solidFill>
              </a:rPr>
              <a:t>United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F2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11365992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100" b="1">
                <a:solidFill>
                  <a:srgbClr val="0F2F57"/>
                </a:solidFill>
                <a:latin typeface="Aptos Display"/>
              </a:rPr>
              <a:t>Practical Idea &amp;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14791" y="896112"/>
            <a:ext cx="333193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dirty="0">
                <a:latin typeface="Aptos"/>
              </a:rPr>
              <a:t>Purpose of the practical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370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>
                <a:solidFill>
                  <a:srgbClr val="2D343C"/>
                </a:solidFill>
                <a:latin typeface="Aptos"/>
              </a:defRPr>
            </a:pPr>
            <a:r>
              <a:rPr sz="2800" dirty="0"/>
              <a:t>Idea: Prepare an employee dataset by selecting useful fields.</a:t>
            </a:r>
          </a:p>
          <a:p>
            <a:pPr>
              <a:spcAft>
                <a:spcPts val="1800"/>
              </a:spcAft>
              <a:defRPr sz="2400">
                <a:solidFill>
                  <a:srgbClr val="2D343C"/>
                </a:solidFill>
                <a:latin typeface="Aptos"/>
              </a:defRPr>
            </a:pPr>
            <a:r>
              <a:rPr sz="2800" dirty="0"/>
              <a:t>Use the Filter Node to keep required columns and remove unnecessary columns.</a:t>
            </a:r>
          </a:p>
          <a:p>
            <a:pPr>
              <a:spcAft>
                <a:spcPts val="1800"/>
              </a:spcAft>
              <a:defRPr sz="2400">
                <a:solidFill>
                  <a:srgbClr val="2D343C"/>
                </a:solidFill>
                <a:latin typeface="Aptos"/>
              </a:defRPr>
            </a:pPr>
            <a:r>
              <a:rPr sz="2800" dirty="0"/>
              <a:t>Understand how fields can be renamed for clearer labels.</a:t>
            </a:r>
          </a:p>
          <a:p>
            <a:pPr>
              <a:spcAft>
                <a:spcPts val="1800"/>
              </a:spcAft>
              <a:defRPr sz="2400">
                <a:solidFill>
                  <a:srgbClr val="2D343C"/>
                </a:solidFill>
                <a:latin typeface="Aptos"/>
              </a:defRPr>
            </a:pPr>
            <a:r>
              <a:rPr sz="2800" dirty="0"/>
              <a:t>Check the final table to confirm the required fields and records remain.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F2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11365992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100" b="1">
                <a:solidFill>
                  <a:srgbClr val="0F2F57"/>
                </a:solidFill>
                <a:latin typeface="Aptos Display"/>
              </a:rPr>
              <a:t>Introduction to Predictive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2D343C"/>
                </a:solidFill>
                <a:latin typeface="Aptos"/>
              </a:defRPr>
            </a:pPr>
            <a:r>
              <a:t>Predictive Analytics uses historical data to estimate possible future outcomes.</a:t>
            </a:r>
          </a:p>
          <a:p>
            <a:pPr>
              <a:spcAft>
                <a:spcPts val="1800"/>
              </a:spcAft>
              <a:defRPr sz="2300">
                <a:solidFill>
                  <a:srgbClr val="2D343C"/>
                </a:solidFill>
                <a:latin typeface="Aptos"/>
              </a:defRPr>
            </a:pPr>
            <a:r>
              <a:t>It supports forecasting, planning, and business decisions.</a:t>
            </a:r>
          </a:p>
          <a:p>
            <a:pPr>
              <a:spcAft>
                <a:spcPts val="1800"/>
              </a:spcAft>
              <a:defRPr sz="2300">
                <a:solidFill>
                  <a:srgbClr val="2D343C"/>
                </a:solidFill>
                <a:latin typeface="Aptos"/>
              </a:defRPr>
            </a:pPr>
            <a:r>
              <a:t>Data preparation is an important step before building predictive models.</a:t>
            </a:r>
          </a:p>
          <a:p>
            <a:pPr>
              <a:spcAft>
                <a:spcPts val="1800"/>
              </a:spcAft>
              <a:defRPr sz="2300">
                <a:solidFill>
                  <a:srgbClr val="2D343C"/>
                </a:solidFill>
                <a:latin typeface="Aptos"/>
              </a:defRPr>
            </a:pPr>
            <a:r>
              <a:t>Our Filter Node practical prepares fields; the node itself does not make predictions.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F2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11365992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100" b="1">
                <a:solidFill>
                  <a:srgbClr val="0F2F57"/>
                </a:solidFill>
                <a:latin typeface="Aptos Display"/>
              </a:rPr>
              <a:t>Employee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76997" y="896112"/>
            <a:ext cx="360752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dirty="0">
                <a:latin typeface="Aptos"/>
              </a:rPr>
              <a:t>Input data used in the practical</a:t>
            </a:r>
          </a:p>
        </p:txBody>
      </p:sp>
      <p:pic>
        <p:nvPicPr>
          <p:cNvPr id="6" name="Picture 5" descr="table sps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1074420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F2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6242" y="300522"/>
            <a:ext cx="4876463" cy="56938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n-US" sz="3100" b="1" dirty="0">
                <a:solidFill>
                  <a:srgbClr val="0F2F57"/>
                </a:solidFill>
                <a:latin typeface="Aptos Display"/>
              </a:rPr>
              <a:t>Application OF </a:t>
            </a:r>
            <a:r>
              <a:rPr sz="3100" b="1" dirty="0">
                <a:solidFill>
                  <a:srgbClr val="0F2F57"/>
                </a:solidFill>
                <a:latin typeface="Aptos Display"/>
              </a:rPr>
              <a:t>: Filter Node </a:t>
            </a:r>
          </a:p>
        </p:txBody>
      </p:sp>
      <p:pic>
        <p:nvPicPr>
          <p:cNvPr id="5" name="Picture 4" descr="MEWTHOD OF FILLTER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325880"/>
            <a:ext cx="96012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F2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11365992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100" b="1">
                <a:solidFill>
                  <a:srgbClr val="0F2F57"/>
                </a:solidFill>
                <a:latin typeface="Aptos Display"/>
              </a:rPr>
              <a:t>Practical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72511" y="891427"/>
            <a:ext cx="490948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dirty="0">
                <a:latin typeface="Aptos"/>
              </a:rPr>
              <a:t>Filtered table: 3 fields and 8 records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852C61A-BADC-0E25-1390-5D112488B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052" y="1464883"/>
            <a:ext cx="7995896" cy="50225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F2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11365992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100" b="1">
                <a:solidFill>
                  <a:srgbClr val="0F2F57"/>
                </a:solidFill>
                <a:latin typeface="Aptos Display"/>
              </a:rPr>
              <a:t>Procedure &amp; Filter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3462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D343C"/>
                </a:solidFill>
                <a:latin typeface="Aptos"/>
              </a:defRPr>
            </a:pPr>
            <a:r>
              <a:rPr sz="2400" dirty="0"/>
              <a:t>Import the employee dataset into the workflow.</a:t>
            </a:r>
          </a:p>
          <a:p>
            <a:pPr>
              <a:spcAft>
                <a:spcPts val="1800"/>
              </a:spcAft>
              <a:defRPr sz="2100">
                <a:solidFill>
                  <a:srgbClr val="2D343C"/>
                </a:solidFill>
                <a:latin typeface="Aptos"/>
              </a:defRPr>
            </a:pPr>
            <a:r>
              <a:rPr sz="2400" dirty="0"/>
              <a:t>Connect the dataset to the Filter Node.</a:t>
            </a:r>
          </a:p>
          <a:p>
            <a:pPr>
              <a:spcAft>
                <a:spcPts val="1800"/>
              </a:spcAft>
              <a:defRPr sz="2100">
                <a:solidFill>
                  <a:srgbClr val="2D343C"/>
                </a:solidFill>
                <a:latin typeface="Aptos"/>
              </a:defRPr>
            </a:pPr>
            <a:r>
              <a:rPr sz="2400" dirty="0"/>
              <a:t>Keeping: retain only the fields needed for analysis.</a:t>
            </a:r>
          </a:p>
          <a:p>
            <a:pPr>
              <a:spcAft>
                <a:spcPts val="1800"/>
              </a:spcAft>
              <a:defRPr sz="2100">
                <a:solidFill>
                  <a:srgbClr val="2D343C"/>
                </a:solidFill>
                <a:latin typeface="Aptos"/>
              </a:defRPr>
            </a:pPr>
            <a:r>
              <a:rPr sz="2400" dirty="0"/>
              <a:t>Removing: exclude unnecessary fields, such as </a:t>
            </a:r>
            <a:r>
              <a:rPr sz="2400" dirty="0" err="1"/>
              <a:t>Employee_id</a:t>
            </a:r>
            <a:r>
              <a:rPr sz="2400" dirty="0"/>
              <a:t> in this output.</a:t>
            </a:r>
          </a:p>
          <a:p>
            <a:pPr>
              <a:spcAft>
                <a:spcPts val="1800"/>
              </a:spcAft>
              <a:defRPr sz="2100">
                <a:solidFill>
                  <a:srgbClr val="2D343C"/>
                </a:solidFill>
                <a:latin typeface="Aptos"/>
              </a:defRPr>
            </a:pPr>
            <a:r>
              <a:rPr sz="2400" dirty="0"/>
              <a:t>Renaming: change a field name when a clearer label is required.</a:t>
            </a:r>
          </a:p>
          <a:p>
            <a:pPr>
              <a:spcAft>
                <a:spcPts val="1800"/>
              </a:spcAft>
              <a:defRPr sz="2100">
                <a:solidFill>
                  <a:srgbClr val="2D343C"/>
                </a:solidFill>
                <a:latin typeface="Aptos"/>
              </a:defRPr>
            </a:pPr>
            <a:r>
              <a:rPr sz="2400" dirty="0"/>
              <a:t>Run the workflow and inspect the output table.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2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F2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56032"/>
            <a:ext cx="11365992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100" b="1">
                <a:solidFill>
                  <a:srgbClr val="0F2F57"/>
                </a:solidFill>
                <a:latin typeface="Aptos Display"/>
              </a:rPr>
              <a:t>Conclusion &amp; 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89920" cy="3370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2D343C"/>
                </a:solidFill>
                <a:latin typeface="Aptos"/>
              </a:defRPr>
            </a:pPr>
            <a:r>
              <a:rPr sz="2800" dirty="0"/>
              <a:t>The Filter Node helped simplify the employee dataset.</a:t>
            </a:r>
          </a:p>
          <a:p>
            <a:pPr>
              <a:spcAft>
                <a:spcPts val="1800"/>
              </a:spcAft>
              <a:defRPr sz="2300">
                <a:solidFill>
                  <a:srgbClr val="2D343C"/>
                </a:solidFill>
                <a:latin typeface="Aptos"/>
              </a:defRPr>
            </a:pPr>
            <a:r>
              <a:rPr sz="2800" dirty="0" err="1"/>
              <a:t>Employee_id</a:t>
            </a:r>
            <a:r>
              <a:rPr sz="2800" dirty="0"/>
              <a:t> was removed; Name, Department, and Salary were retained.</a:t>
            </a:r>
          </a:p>
          <a:p>
            <a:pPr>
              <a:spcAft>
                <a:spcPts val="1800"/>
              </a:spcAft>
              <a:defRPr sz="2300">
                <a:solidFill>
                  <a:srgbClr val="2D343C"/>
                </a:solidFill>
                <a:latin typeface="Aptos"/>
              </a:defRPr>
            </a:pPr>
            <a:r>
              <a:rPr sz="2800" dirty="0"/>
              <a:t>The output contained 3 fields and 8 records.</a:t>
            </a:r>
          </a:p>
          <a:p>
            <a:pPr>
              <a:spcAft>
                <a:spcPts val="1800"/>
              </a:spcAft>
              <a:defRPr sz="2300">
                <a:solidFill>
                  <a:srgbClr val="2D343C"/>
                </a:solidFill>
                <a:latin typeface="Aptos"/>
              </a:defRPr>
            </a:pPr>
            <a:r>
              <a:rPr sz="2800" dirty="0"/>
              <a:t>This practical demonstrates data preparation for further analysis, not prediction itself.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3862298-AF85-4572-BED3-52E573EBD41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3E485DD-0C12-45BC-A361-28152A03BB9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64207" y="0"/>
            <a:ext cx="2472664" cy="6858000"/>
          </a:xfrm>
          <a:custGeom>
            <a:avLst/>
            <a:gdLst>
              <a:gd name="connsiteX0" fmla="*/ 1056708 w 2472664"/>
              <a:gd name="connsiteY0" fmla="*/ 0 h 6858000"/>
              <a:gd name="connsiteX1" fmla="*/ 2472664 w 2472664"/>
              <a:gd name="connsiteY1" fmla="*/ 0 h 6858000"/>
              <a:gd name="connsiteX2" fmla="*/ 2400427 w 2472664"/>
              <a:gd name="connsiteY2" fmla="*/ 75768 h 6858000"/>
              <a:gd name="connsiteX3" fmla="*/ 1104861 w 2472664"/>
              <a:gd name="connsiteY3" fmla="*/ 3429000 h 6858000"/>
              <a:gd name="connsiteX4" fmla="*/ 2400427 w 2472664"/>
              <a:gd name="connsiteY4" fmla="*/ 6782233 h 6858000"/>
              <a:gd name="connsiteX5" fmla="*/ 2472664 w 2472664"/>
              <a:gd name="connsiteY5" fmla="*/ 6858000 h 6858000"/>
              <a:gd name="connsiteX6" fmla="*/ 1056708 w 2472664"/>
              <a:gd name="connsiteY6" fmla="*/ 6858000 h 6858000"/>
              <a:gd name="connsiteX7" fmla="*/ 1040416 w 2472664"/>
              <a:gd name="connsiteY7" fmla="*/ 6835090 h 6858000"/>
              <a:gd name="connsiteX8" fmla="*/ 0 w 2472664"/>
              <a:gd name="connsiteY8" fmla="*/ 3429000 h 6858000"/>
              <a:gd name="connsiteX9" fmla="*/ 1040416 w 2472664"/>
              <a:gd name="connsiteY9" fmla="*/ 2291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72664" h="6858000">
                <a:moveTo>
                  <a:pt x="1056708" y="0"/>
                </a:moveTo>
                <a:lnTo>
                  <a:pt x="2472664" y="0"/>
                </a:lnTo>
                <a:lnTo>
                  <a:pt x="2400427" y="75768"/>
                </a:lnTo>
                <a:cubicBezTo>
                  <a:pt x="1595469" y="961418"/>
                  <a:pt x="1104861" y="2137915"/>
                  <a:pt x="1104861" y="3429000"/>
                </a:cubicBezTo>
                <a:cubicBezTo>
                  <a:pt x="1104861" y="4720086"/>
                  <a:pt x="1595469" y="5896583"/>
                  <a:pt x="2400427" y="6782233"/>
                </a:cubicBezTo>
                <a:lnTo>
                  <a:pt x="2472664" y="6858000"/>
                </a:lnTo>
                <a:lnTo>
                  <a:pt x="1056708" y="6858000"/>
                </a:lnTo>
                <a:lnTo>
                  <a:pt x="1040416" y="6835090"/>
                </a:lnTo>
                <a:cubicBezTo>
                  <a:pt x="383551" y="5862802"/>
                  <a:pt x="0" y="4690693"/>
                  <a:pt x="0" y="3429000"/>
                </a:cubicBezTo>
                <a:cubicBezTo>
                  <a:pt x="0" y="2167308"/>
                  <a:pt x="383551" y="995199"/>
                  <a:pt x="1040416" y="22911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6276A6-D543-8AE3-D4D5-F661C7E35B9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prstClr val="white"/>
            </a:duotone>
            <a:extLst>
              <a:ext uri="{837473B0-CC2E-450A-ABE3-18F120FF3D39}">
                <a1611:picAttrSrcUrl xmlns=""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667034" y="1114425"/>
            <a:ext cx="6486707" cy="4629150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D6B998F-CA62-4EE6-B7E7-046377D4F7E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03038" y="1992863"/>
            <a:ext cx="1488962" cy="2872274"/>
          </a:xfrm>
          <a:custGeom>
            <a:avLst/>
            <a:gdLst>
              <a:gd name="connsiteX0" fmla="*/ 1436137 w 1488962"/>
              <a:gd name="connsiteY0" fmla="*/ 0 h 2872274"/>
              <a:gd name="connsiteX1" fmla="*/ 1488962 w 1488962"/>
              <a:gd name="connsiteY1" fmla="*/ 2668 h 2872274"/>
              <a:gd name="connsiteX2" fmla="*/ 1488962 w 1488962"/>
              <a:gd name="connsiteY2" fmla="*/ 2869607 h 2872274"/>
              <a:gd name="connsiteX3" fmla="*/ 1436137 w 1488962"/>
              <a:gd name="connsiteY3" fmla="*/ 2872274 h 2872274"/>
              <a:gd name="connsiteX4" fmla="*/ 0 w 1488962"/>
              <a:gd name="connsiteY4" fmla="*/ 1436137 h 2872274"/>
              <a:gd name="connsiteX5" fmla="*/ 1436137 w 1488962"/>
              <a:gd name="connsiteY5" fmla="*/ 0 h 2872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8962" h="2872274">
                <a:moveTo>
                  <a:pt x="1436137" y="0"/>
                </a:moveTo>
                <a:lnTo>
                  <a:pt x="1488962" y="2668"/>
                </a:lnTo>
                <a:lnTo>
                  <a:pt x="1488962" y="2869607"/>
                </a:lnTo>
                <a:lnTo>
                  <a:pt x="1436137" y="2872274"/>
                </a:lnTo>
                <a:cubicBezTo>
                  <a:pt x="642980" y="2872274"/>
                  <a:pt x="0" y="2229294"/>
                  <a:pt x="0" y="1436137"/>
                </a:cubicBezTo>
                <a:cubicBezTo>
                  <a:pt x="0" y="642980"/>
                  <a:pt x="642980" y="0"/>
                  <a:pt x="1436137" y="0"/>
                </a:cubicBezTo>
                <a:close/>
              </a:path>
            </a:pathLst>
          </a:custGeom>
          <a:solidFill>
            <a:schemeClr val="accent6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797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272</Words>
  <Application>Microsoft Office PowerPoint</Application>
  <PresentationFormat>Widescreen</PresentationFormat>
  <Paragraphs>38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OMI</cp:lastModifiedBy>
  <cp:revision>4</cp:revision>
  <dcterms:created xsi:type="dcterms:W3CDTF">2013-01-27T09:14:16Z</dcterms:created>
  <dcterms:modified xsi:type="dcterms:W3CDTF">2026-10-23T05:14:02Z</dcterms:modified>
  <cp:category/>
</cp:coreProperties>
</file>